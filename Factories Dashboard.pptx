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0" d="100"/>
          <a:sy n="70" d="100"/>
        </p:scale>
        <p:origin x="936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09BC04-2749-4979-A7A7-02B073F384C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AC5C94-2ACE-476D-A141-61E84F6B2A42}">
      <dgm:prSet/>
      <dgm:spPr/>
      <dgm:t>
        <a:bodyPr/>
        <a:lstStyle/>
        <a:p>
          <a:r>
            <a:rPr lang="en-US"/>
            <a:t>The dashboard clearly highlights that Daikibo Factory Seiko and Shenzhen are experiencing the highest operational downtime, which directly impacts production efficiency.</a:t>
          </a:r>
        </a:p>
      </dgm:t>
    </dgm:pt>
    <dgm:pt modelId="{65ECBC99-1529-4EC5-81F1-E3D6770320E4}" type="parTrans" cxnId="{650BCA7C-5173-40BE-B036-238DFA7B64BF}">
      <dgm:prSet/>
      <dgm:spPr/>
      <dgm:t>
        <a:bodyPr/>
        <a:lstStyle/>
        <a:p>
          <a:endParaRPr lang="en-US"/>
        </a:p>
      </dgm:t>
    </dgm:pt>
    <dgm:pt modelId="{E4B12291-0064-4002-81D3-4409AAA36C03}" type="sibTrans" cxnId="{650BCA7C-5173-40BE-B036-238DFA7B64BF}">
      <dgm:prSet/>
      <dgm:spPr/>
      <dgm:t>
        <a:bodyPr/>
        <a:lstStyle/>
        <a:p>
          <a:endParaRPr lang="en-US"/>
        </a:p>
      </dgm:t>
    </dgm:pt>
    <dgm:pt modelId="{3A28EED9-A2AD-4C87-BBD2-C2A5A61BFE7C}">
      <dgm:prSet/>
      <dgm:spPr/>
      <dgm:t>
        <a:bodyPr/>
        <a:lstStyle/>
        <a:p>
          <a:r>
            <a:rPr lang="en-US"/>
            <a:t>At the equipment level, Laser Welders and Laser Cutters are the biggest contributors to downtime, making them critical focus areas for maintenance and performance improvement.</a:t>
          </a:r>
        </a:p>
      </dgm:t>
    </dgm:pt>
    <dgm:pt modelId="{1B72DB1E-1497-460A-B94C-46713AF9D132}" type="parTrans" cxnId="{9FDC486B-76BB-450A-86BF-8AD66EC6463C}">
      <dgm:prSet/>
      <dgm:spPr/>
      <dgm:t>
        <a:bodyPr/>
        <a:lstStyle/>
        <a:p>
          <a:endParaRPr lang="en-US"/>
        </a:p>
      </dgm:t>
    </dgm:pt>
    <dgm:pt modelId="{DA5CDE7D-BE1C-4D8F-95C4-76E0C21069F0}" type="sibTrans" cxnId="{9FDC486B-76BB-450A-86BF-8AD66EC6463C}">
      <dgm:prSet/>
      <dgm:spPr/>
      <dgm:t>
        <a:bodyPr/>
        <a:lstStyle/>
        <a:p>
          <a:endParaRPr lang="en-US"/>
        </a:p>
      </dgm:t>
    </dgm:pt>
    <dgm:pt modelId="{3092AF4A-4C08-4DAD-ACE6-6D910FC84F62}">
      <dgm:prSet/>
      <dgm:spPr/>
      <dgm:t>
        <a:bodyPr/>
        <a:lstStyle/>
        <a:p>
          <a:r>
            <a:rPr lang="en-US"/>
            <a:t>By prioritizing these factories and high-risk devices, the company can reduce unplanned outages, improve machine reliability, and increase overall production output.</a:t>
          </a:r>
        </a:p>
      </dgm:t>
    </dgm:pt>
    <dgm:pt modelId="{D526A39F-C965-4346-A6D6-0CB840DF7680}" type="parTrans" cxnId="{EA365B38-0F2B-473E-B223-F7FB27CADFB0}">
      <dgm:prSet/>
      <dgm:spPr/>
      <dgm:t>
        <a:bodyPr/>
        <a:lstStyle/>
        <a:p>
          <a:endParaRPr lang="en-US"/>
        </a:p>
      </dgm:t>
    </dgm:pt>
    <dgm:pt modelId="{81CECF4E-B3C2-43FF-8C2A-476CF09CAA5D}" type="sibTrans" cxnId="{EA365B38-0F2B-473E-B223-F7FB27CADFB0}">
      <dgm:prSet/>
      <dgm:spPr/>
      <dgm:t>
        <a:bodyPr/>
        <a:lstStyle/>
        <a:p>
          <a:endParaRPr lang="en-US"/>
        </a:p>
      </dgm:t>
    </dgm:pt>
    <dgm:pt modelId="{E9DE218B-CB64-4E9F-B746-38976C0F9090}">
      <dgm:prSet/>
      <dgm:spPr/>
      <dgm:t>
        <a:bodyPr/>
        <a:lstStyle/>
        <a:p>
          <a:r>
            <a:rPr lang="en-US"/>
            <a:t>This dashboard enables management to make data-driven decisions for maintenance planning and operational optimization.</a:t>
          </a:r>
        </a:p>
      </dgm:t>
    </dgm:pt>
    <dgm:pt modelId="{1FB23CE7-B530-433E-AC95-5843E91C4F2C}" type="parTrans" cxnId="{78B35670-8320-454B-A046-CC6164612FF3}">
      <dgm:prSet/>
      <dgm:spPr/>
      <dgm:t>
        <a:bodyPr/>
        <a:lstStyle/>
        <a:p>
          <a:endParaRPr lang="en-US"/>
        </a:p>
      </dgm:t>
    </dgm:pt>
    <dgm:pt modelId="{192168BD-D9D6-4AEA-883F-BA028E296C98}" type="sibTrans" cxnId="{78B35670-8320-454B-A046-CC6164612FF3}">
      <dgm:prSet/>
      <dgm:spPr/>
      <dgm:t>
        <a:bodyPr/>
        <a:lstStyle/>
        <a:p>
          <a:endParaRPr lang="en-US"/>
        </a:p>
      </dgm:t>
    </dgm:pt>
    <dgm:pt modelId="{FCD0424D-CCD7-4915-BA21-398CA91873AC}" type="pres">
      <dgm:prSet presAssocID="{4909BC04-2749-4979-A7A7-02B073F384CF}" presName="root" presStyleCnt="0">
        <dgm:presLayoutVars>
          <dgm:dir/>
          <dgm:resizeHandles val="exact"/>
        </dgm:presLayoutVars>
      </dgm:prSet>
      <dgm:spPr/>
    </dgm:pt>
    <dgm:pt modelId="{B5605CD0-B92D-4023-A683-3E8DC0497DC6}" type="pres">
      <dgm:prSet presAssocID="{BAAC5C94-2ACE-476D-A141-61E84F6B2A42}" presName="compNode" presStyleCnt="0"/>
      <dgm:spPr/>
    </dgm:pt>
    <dgm:pt modelId="{344DD9CC-01C0-486D-9634-474D7B763E47}" type="pres">
      <dgm:prSet presAssocID="{BAAC5C94-2ACE-476D-A141-61E84F6B2A4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D8BF77B7-DFC3-4529-8BF2-D6EA7A692533}" type="pres">
      <dgm:prSet presAssocID="{BAAC5C94-2ACE-476D-A141-61E84F6B2A42}" presName="spaceRect" presStyleCnt="0"/>
      <dgm:spPr/>
    </dgm:pt>
    <dgm:pt modelId="{A6DDF27B-7333-4FE4-8615-F15ED671260A}" type="pres">
      <dgm:prSet presAssocID="{BAAC5C94-2ACE-476D-A141-61E84F6B2A42}" presName="textRect" presStyleLbl="revTx" presStyleIdx="0" presStyleCnt="4">
        <dgm:presLayoutVars>
          <dgm:chMax val="1"/>
          <dgm:chPref val="1"/>
        </dgm:presLayoutVars>
      </dgm:prSet>
      <dgm:spPr/>
    </dgm:pt>
    <dgm:pt modelId="{2F63133F-559E-46C7-B9BA-2F8E306A5720}" type="pres">
      <dgm:prSet presAssocID="{E4B12291-0064-4002-81D3-4409AAA36C03}" presName="sibTrans" presStyleCnt="0"/>
      <dgm:spPr/>
    </dgm:pt>
    <dgm:pt modelId="{135ECB24-83F7-4396-9137-1FA5F2F302C5}" type="pres">
      <dgm:prSet presAssocID="{3A28EED9-A2AD-4C87-BBD2-C2A5A61BFE7C}" presName="compNode" presStyleCnt="0"/>
      <dgm:spPr/>
    </dgm:pt>
    <dgm:pt modelId="{A374569A-F86D-4487-8F28-A9FB8441B2A9}" type="pres">
      <dgm:prSet presAssocID="{3A28EED9-A2AD-4C87-BBD2-C2A5A61BFE7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lder"/>
        </a:ext>
      </dgm:extLst>
    </dgm:pt>
    <dgm:pt modelId="{81A6C77D-D147-4FBE-B5C0-C2C645D63DF2}" type="pres">
      <dgm:prSet presAssocID="{3A28EED9-A2AD-4C87-BBD2-C2A5A61BFE7C}" presName="spaceRect" presStyleCnt="0"/>
      <dgm:spPr/>
    </dgm:pt>
    <dgm:pt modelId="{D9859105-1E35-4B25-87AC-11714B504E7A}" type="pres">
      <dgm:prSet presAssocID="{3A28EED9-A2AD-4C87-BBD2-C2A5A61BFE7C}" presName="textRect" presStyleLbl="revTx" presStyleIdx="1" presStyleCnt="4">
        <dgm:presLayoutVars>
          <dgm:chMax val="1"/>
          <dgm:chPref val="1"/>
        </dgm:presLayoutVars>
      </dgm:prSet>
      <dgm:spPr/>
    </dgm:pt>
    <dgm:pt modelId="{65B76E46-345D-486E-92D3-92DD1D771099}" type="pres">
      <dgm:prSet presAssocID="{DA5CDE7D-BE1C-4D8F-95C4-76E0C21069F0}" presName="sibTrans" presStyleCnt="0"/>
      <dgm:spPr/>
    </dgm:pt>
    <dgm:pt modelId="{44B4166A-C8F8-4109-997A-1BBE48B50AF5}" type="pres">
      <dgm:prSet presAssocID="{3092AF4A-4C08-4DAD-ACE6-6D910FC84F62}" presName="compNode" presStyleCnt="0"/>
      <dgm:spPr/>
    </dgm:pt>
    <dgm:pt modelId="{D81E7F9D-04B5-4C89-AC33-0EBEDAEDC423}" type="pres">
      <dgm:prSet presAssocID="{3092AF4A-4C08-4DAD-ACE6-6D910FC84F6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A925FC7E-71BC-48D4-BB1F-9B848A5A1C03}" type="pres">
      <dgm:prSet presAssocID="{3092AF4A-4C08-4DAD-ACE6-6D910FC84F62}" presName="spaceRect" presStyleCnt="0"/>
      <dgm:spPr/>
    </dgm:pt>
    <dgm:pt modelId="{0A08ECE4-67B8-490B-BDE2-9030C5E7E6B9}" type="pres">
      <dgm:prSet presAssocID="{3092AF4A-4C08-4DAD-ACE6-6D910FC84F62}" presName="textRect" presStyleLbl="revTx" presStyleIdx="2" presStyleCnt="4">
        <dgm:presLayoutVars>
          <dgm:chMax val="1"/>
          <dgm:chPref val="1"/>
        </dgm:presLayoutVars>
      </dgm:prSet>
      <dgm:spPr/>
    </dgm:pt>
    <dgm:pt modelId="{129F1780-BC01-4198-ADFA-3323508D4995}" type="pres">
      <dgm:prSet presAssocID="{81CECF4E-B3C2-43FF-8C2A-476CF09CAA5D}" presName="sibTrans" presStyleCnt="0"/>
      <dgm:spPr/>
    </dgm:pt>
    <dgm:pt modelId="{72DFEEAD-BBC4-4C57-87B2-1EF8CCD8F013}" type="pres">
      <dgm:prSet presAssocID="{E9DE218B-CB64-4E9F-B746-38976C0F9090}" presName="compNode" presStyleCnt="0"/>
      <dgm:spPr/>
    </dgm:pt>
    <dgm:pt modelId="{2C1BBAD1-6CF0-4467-9F70-2E00C4DD5C71}" type="pres">
      <dgm:prSet presAssocID="{E9DE218B-CB64-4E9F-B746-38976C0F909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2A77624-8BDA-4773-9A8C-BE7533A8DE8A}" type="pres">
      <dgm:prSet presAssocID="{E9DE218B-CB64-4E9F-B746-38976C0F9090}" presName="spaceRect" presStyleCnt="0"/>
      <dgm:spPr/>
    </dgm:pt>
    <dgm:pt modelId="{44ED5B13-FD20-431F-9D8C-F065686D4D3E}" type="pres">
      <dgm:prSet presAssocID="{E9DE218B-CB64-4E9F-B746-38976C0F909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1F92E2E-3814-45C1-97AE-F1CAC1853464}" type="presOf" srcId="{BAAC5C94-2ACE-476D-A141-61E84F6B2A42}" destId="{A6DDF27B-7333-4FE4-8615-F15ED671260A}" srcOrd="0" destOrd="0" presId="urn:microsoft.com/office/officeart/2018/2/layout/IconLabelList"/>
    <dgm:cxn modelId="{EA365B38-0F2B-473E-B223-F7FB27CADFB0}" srcId="{4909BC04-2749-4979-A7A7-02B073F384CF}" destId="{3092AF4A-4C08-4DAD-ACE6-6D910FC84F62}" srcOrd="2" destOrd="0" parTransId="{D526A39F-C965-4346-A6D6-0CB840DF7680}" sibTransId="{81CECF4E-B3C2-43FF-8C2A-476CF09CAA5D}"/>
    <dgm:cxn modelId="{E5D29D5B-9534-48E2-87FC-33A8DCF7F081}" type="presOf" srcId="{4909BC04-2749-4979-A7A7-02B073F384CF}" destId="{FCD0424D-CCD7-4915-BA21-398CA91873AC}" srcOrd="0" destOrd="0" presId="urn:microsoft.com/office/officeart/2018/2/layout/IconLabelList"/>
    <dgm:cxn modelId="{9FDC486B-76BB-450A-86BF-8AD66EC6463C}" srcId="{4909BC04-2749-4979-A7A7-02B073F384CF}" destId="{3A28EED9-A2AD-4C87-BBD2-C2A5A61BFE7C}" srcOrd="1" destOrd="0" parTransId="{1B72DB1E-1497-460A-B94C-46713AF9D132}" sibTransId="{DA5CDE7D-BE1C-4D8F-95C4-76E0C21069F0}"/>
    <dgm:cxn modelId="{78B35670-8320-454B-A046-CC6164612FF3}" srcId="{4909BC04-2749-4979-A7A7-02B073F384CF}" destId="{E9DE218B-CB64-4E9F-B746-38976C0F9090}" srcOrd="3" destOrd="0" parTransId="{1FB23CE7-B530-433E-AC95-5843E91C4F2C}" sibTransId="{192168BD-D9D6-4AEA-883F-BA028E296C98}"/>
    <dgm:cxn modelId="{650BCA7C-5173-40BE-B036-238DFA7B64BF}" srcId="{4909BC04-2749-4979-A7A7-02B073F384CF}" destId="{BAAC5C94-2ACE-476D-A141-61E84F6B2A42}" srcOrd="0" destOrd="0" parTransId="{65ECBC99-1529-4EC5-81F1-E3D6770320E4}" sibTransId="{E4B12291-0064-4002-81D3-4409AAA36C03}"/>
    <dgm:cxn modelId="{B6084A7E-56D4-4714-A090-1CA1E701CDB6}" type="presOf" srcId="{3A28EED9-A2AD-4C87-BBD2-C2A5A61BFE7C}" destId="{D9859105-1E35-4B25-87AC-11714B504E7A}" srcOrd="0" destOrd="0" presId="urn:microsoft.com/office/officeart/2018/2/layout/IconLabelList"/>
    <dgm:cxn modelId="{1E5730C6-BDD8-440F-895C-FED35F8BF454}" type="presOf" srcId="{3092AF4A-4C08-4DAD-ACE6-6D910FC84F62}" destId="{0A08ECE4-67B8-490B-BDE2-9030C5E7E6B9}" srcOrd="0" destOrd="0" presId="urn:microsoft.com/office/officeart/2018/2/layout/IconLabelList"/>
    <dgm:cxn modelId="{386DCCD9-77C3-441B-B4BA-BFEFBF4AE282}" type="presOf" srcId="{E9DE218B-CB64-4E9F-B746-38976C0F9090}" destId="{44ED5B13-FD20-431F-9D8C-F065686D4D3E}" srcOrd="0" destOrd="0" presId="urn:microsoft.com/office/officeart/2018/2/layout/IconLabelList"/>
    <dgm:cxn modelId="{C00987D8-1400-49CC-9A99-A4228B8F2AF0}" type="presParOf" srcId="{FCD0424D-CCD7-4915-BA21-398CA91873AC}" destId="{B5605CD0-B92D-4023-A683-3E8DC0497DC6}" srcOrd="0" destOrd="0" presId="urn:microsoft.com/office/officeart/2018/2/layout/IconLabelList"/>
    <dgm:cxn modelId="{31F9E614-6A27-4478-B840-55CF59E885D5}" type="presParOf" srcId="{B5605CD0-B92D-4023-A683-3E8DC0497DC6}" destId="{344DD9CC-01C0-486D-9634-474D7B763E47}" srcOrd="0" destOrd="0" presId="urn:microsoft.com/office/officeart/2018/2/layout/IconLabelList"/>
    <dgm:cxn modelId="{4175E980-A3EC-46ED-BBDB-9757E966BE3F}" type="presParOf" srcId="{B5605CD0-B92D-4023-A683-3E8DC0497DC6}" destId="{D8BF77B7-DFC3-4529-8BF2-D6EA7A692533}" srcOrd="1" destOrd="0" presId="urn:microsoft.com/office/officeart/2018/2/layout/IconLabelList"/>
    <dgm:cxn modelId="{5CB98494-DBA4-4CC2-B55D-3A07C823B1E2}" type="presParOf" srcId="{B5605CD0-B92D-4023-A683-3E8DC0497DC6}" destId="{A6DDF27B-7333-4FE4-8615-F15ED671260A}" srcOrd="2" destOrd="0" presId="urn:microsoft.com/office/officeart/2018/2/layout/IconLabelList"/>
    <dgm:cxn modelId="{ADB53923-5ADE-4E95-A687-F537482F7236}" type="presParOf" srcId="{FCD0424D-CCD7-4915-BA21-398CA91873AC}" destId="{2F63133F-559E-46C7-B9BA-2F8E306A5720}" srcOrd="1" destOrd="0" presId="urn:microsoft.com/office/officeart/2018/2/layout/IconLabelList"/>
    <dgm:cxn modelId="{C6F2E5DE-DA36-4DCA-A894-31180AC6516A}" type="presParOf" srcId="{FCD0424D-CCD7-4915-BA21-398CA91873AC}" destId="{135ECB24-83F7-4396-9137-1FA5F2F302C5}" srcOrd="2" destOrd="0" presId="urn:microsoft.com/office/officeart/2018/2/layout/IconLabelList"/>
    <dgm:cxn modelId="{8D416A3C-0342-4DED-9A31-BA02619E0E92}" type="presParOf" srcId="{135ECB24-83F7-4396-9137-1FA5F2F302C5}" destId="{A374569A-F86D-4487-8F28-A9FB8441B2A9}" srcOrd="0" destOrd="0" presId="urn:microsoft.com/office/officeart/2018/2/layout/IconLabelList"/>
    <dgm:cxn modelId="{44A7F842-9E62-4242-9B69-6710FFD2A178}" type="presParOf" srcId="{135ECB24-83F7-4396-9137-1FA5F2F302C5}" destId="{81A6C77D-D147-4FBE-B5C0-C2C645D63DF2}" srcOrd="1" destOrd="0" presId="urn:microsoft.com/office/officeart/2018/2/layout/IconLabelList"/>
    <dgm:cxn modelId="{42369387-E5EC-4AFD-BA8C-162DFDD7D08D}" type="presParOf" srcId="{135ECB24-83F7-4396-9137-1FA5F2F302C5}" destId="{D9859105-1E35-4B25-87AC-11714B504E7A}" srcOrd="2" destOrd="0" presId="urn:microsoft.com/office/officeart/2018/2/layout/IconLabelList"/>
    <dgm:cxn modelId="{1FFACF93-68D4-4125-AB93-81DB764B1926}" type="presParOf" srcId="{FCD0424D-CCD7-4915-BA21-398CA91873AC}" destId="{65B76E46-345D-486E-92D3-92DD1D771099}" srcOrd="3" destOrd="0" presId="urn:microsoft.com/office/officeart/2018/2/layout/IconLabelList"/>
    <dgm:cxn modelId="{76338AA2-80F1-429B-A6DA-39B8900B98EB}" type="presParOf" srcId="{FCD0424D-CCD7-4915-BA21-398CA91873AC}" destId="{44B4166A-C8F8-4109-997A-1BBE48B50AF5}" srcOrd="4" destOrd="0" presId="urn:microsoft.com/office/officeart/2018/2/layout/IconLabelList"/>
    <dgm:cxn modelId="{6FFE24CD-5241-459A-BF82-823CD317E135}" type="presParOf" srcId="{44B4166A-C8F8-4109-997A-1BBE48B50AF5}" destId="{D81E7F9D-04B5-4C89-AC33-0EBEDAEDC423}" srcOrd="0" destOrd="0" presId="urn:microsoft.com/office/officeart/2018/2/layout/IconLabelList"/>
    <dgm:cxn modelId="{8AA18EAC-A64C-4D54-BB3E-7DFBB0698418}" type="presParOf" srcId="{44B4166A-C8F8-4109-997A-1BBE48B50AF5}" destId="{A925FC7E-71BC-48D4-BB1F-9B848A5A1C03}" srcOrd="1" destOrd="0" presId="urn:microsoft.com/office/officeart/2018/2/layout/IconLabelList"/>
    <dgm:cxn modelId="{BA3D12E1-FDFA-45D0-A039-5B4E62644776}" type="presParOf" srcId="{44B4166A-C8F8-4109-997A-1BBE48B50AF5}" destId="{0A08ECE4-67B8-490B-BDE2-9030C5E7E6B9}" srcOrd="2" destOrd="0" presId="urn:microsoft.com/office/officeart/2018/2/layout/IconLabelList"/>
    <dgm:cxn modelId="{FCD49AEF-5CD9-440D-9A16-358BAA2CF872}" type="presParOf" srcId="{FCD0424D-CCD7-4915-BA21-398CA91873AC}" destId="{129F1780-BC01-4198-ADFA-3323508D4995}" srcOrd="5" destOrd="0" presId="urn:microsoft.com/office/officeart/2018/2/layout/IconLabelList"/>
    <dgm:cxn modelId="{AF7CEA7F-4D53-42B9-B09C-FE7BE836930E}" type="presParOf" srcId="{FCD0424D-CCD7-4915-BA21-398CA91873AC}" destId="{72DFEEAD-BBC4-4C57-87B2-1EF8CCD8F013}" srcOrd="6" destOrd="0" presId="urn:microsoft.com/office/officeart/2018/2/layout/IconLabelList"/>
    <dgm:cxn modelId="{E1304683-FC3D-4B28-ACE9-31827BB767A5}" type="presParOf" srcId="{72DFEEAD-BBC4-4C57-87B2-1EF8CCD8F013}" destId="{2C1BBAD1-6CF0-4467-9F70-2E00C4DD5C71}" srcOrd="0" destOrd="0" presId="urn:microsoft.com/office/officeart/2018/2/layout/IconLabelList"/>
    <dgm:cxn modelId="{EA1949AD-82EE-4550-953E-470F352E07DE}" type="presParOf" srcId="{72DFEEAD-BBC4-4C57-87B2-1EF8CCD8F013}" destId="{92A77624-8BDA-4773-9A8C-BE7533A8DE8A}" srcOrd="1" destOrd="0" presId="urn:microsoft.com/office/officeart/2018/2/layout/IconLabelList"/>
    <dgm:cxn modelId="{7185C455-1BF9-4678-A793-0D0CD4817253}" type="presParOf" srcId="{72DFEEAD-BBC4-4C57-87B2-1EF8CCD8F013}" destId="{44ED5B13-FD20-431F-9D8C-F065686D4D3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4DD9CC-01C0-486D-9634-474D7B763E47}">
      <dsp:nvSpPr>
        <dsp:cNvPr id="0" name=""/>
        <dsp:cNvSpPr/>
      </dsp:nvSpPr>
      <dsp:spPr>
        <a:xfrm>
          <a:off x="481140" y="1099605"/>
          <a:ext cx="783896" cy="7838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DDF27B-7333-4FE4-8615-F15ED671260A}">
      <dsp:nvSpPr>
        <dsp:cNvPr id="0" name=""/>
        <dsp:cNvSpPr/>
      </dsp:nvSpPr>
      <dsp:spPr>
        <a:xfrm>
          <a:off x="2092" y="2206537"/>
          <a:ext cx="1741992" cy="1045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 dashboard clearly highlights that Daikibo Factory Seiko and Shenzhen are experiencing the highest operational downtime, which directly impacts production efficiency.</a:t>
          </a:r>
        </a:p>
      </dsp:txBody>
      <dsp:txXfrm>
        <a:off x="2092" y="2206537"/>
        <a:ext cx="1741992" cy="1045195"/>
      </dsp:txXfrm>
    </dsp:sp>
    <dsp:sp modelId="{A374569A-F86D-4487-8F28-A9FB8441B2A9}">
      <dsp:nvSpPr>
        <dsp:cNvPr id="0" name=""/>
        <dsp:cNvSpPr/>
      </dsp:nvSpPr>
      <dsp:spPr>
        <a:xfrm>
          <a:off x="2527981" y="1099605"/>
          <a:ext cx="783896" cy="7838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859105-1E35-4B25-87AC-11714B504E7A}">
      <dsp:nvSpPr>
        <dsp:cNvPr id="0" name=""/>
        <dsp:cNvSpPr/>
      </dsp:nvSpPr>
      <dsp:spPr>
        <a:xfrm>
          <a:off x="2048933" y="2206537"/>
          <a:ext cx="1741992" cy="1045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At the equipment level, Laser Welders and Laser Cutters are the biggest contributors to downtime, making them critical focus areas for maintenance and performance improvement.</a:t>
          </a:r>
        </a:p>
      </dsp:txBody>
      <dsp:txXfrm>
        <a:off x="2048933" y="2206537"/>
        <a:ext cx="1741992" cy="1045195"/>
      </dsp:txXfrm>
    </dsp:sp>
    <dsp:sp modelId="{D81E7F9D-04B5-4C89-AC33-0EBEDAEDC423}">
      <dsp:nvSpPr>
        <dsp:cNvPr id="0" name=""/>
        <dsp:cNvSpPr/>
      </dsp:nvSpPr>
      <dsp:spPr>
        <a:xfrm>
          <a:off x="4574822" y="1099605"/>
          <a:ext cx="783896" cy="7838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8ECE4-67B8-490B-BDE2-9030C5E7E6B9}">
      <dsp:nvSpPr>
        <dsp:cNvPr id="0" name=""/>
        <dsp:cNvSpPr/>
      </dsp:nvSpPr>
      <dsp:spPr>
        <a:xfrm>
          <a:off x="4095774" y="2206537"/>
          <a:ext cx="1741992" cy="1045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By prioritizing these factories and high-risk devices, the company can reduce unplanned outages, improve machine reliability, and increase overall production output.</a:t>
          </a:r>
        </a:p>
      </dsp:txBody>
      <dsp:txXfrm>
        <a:off x="4095774" y="2206537"/>
        <a:ext cx="1741992" cy="1045195"/>
      </dsp:txXfrm>
    </dsp:sp>
    <dsp:sp modelId="{2C1BBAD1-6CF0-4467-9F70-2E00C4DD5C71}">
      <dsp:nvSpPr>
        <dsp:cNvPr id="0" name=""/>
        <dsp:cNvSpPr/>
      </dsp:nvSpPr>
      <dsp:spPr>
        <a:xfrm>
          <a:off x="6621662" y="1099605"/>
          <a:ext cx="783896" cy="7838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ED5B13-FD20-431F-9D8C-F065686D4D3E}">
      <dsp:nvSpPr>
        <dsp:cNvPr id="0" name=""/>
        <dsp:cNvSpPr/>
      </dsp:nvSpPr>
      <dsp:spPr>
        <a:xfrm>
          <a:off x="6142615" y="2206537"/>
          <a:ext cx="1741992" cy="10451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This dashboard enables management to make data-driven decisions for maintenance planning and operational optimization.</a:t>
          </a:r>
        </a:p>
      </dsp:txBody>
      <dsp:txXfrm>
        <a:off x="6142615" y="2206537"/>
        <a:ext cx="1741992" cy="10451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A5EF-4530-A5FD-89FD-00B7993A9D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0031C-3FE4-44AF-5739-F9D784D2C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177C15-8B40-7E44-169A-CDE178820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7DBF0-5A2B-9BA8-5E2B-BCB09670C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7BFAB-E3DB-FC09-5C29-22C333E8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73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23125-8E70-635A-C615-87E01758C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0EE08-5886-C570-AFD1-57BA380E8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0EE1B-BD3B-1146-C9A2-E058B0D7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CFCC4-9A1D-9254-97A3-85A12829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7FA58-BC37-866A-6419-8D06B6DD1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2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480C-B042-D111-FA34-868C6D3E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87777-4F28-B98F-4382-B9BA67F3F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523B5-FFFB-58C4-519C-6065507C0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17CA9-D83A-EDB5-E3F5-CD5F258F4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2866D-6AB8-02CA-6C9B-D691DB355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03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ACD16-3A6A-D5CE-FB91-97EA91E8B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AC181-42B2-9371-5D84-9331113AE5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905B0D-6953-586A-FA7C-B40B5246B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44C61-2D2E-495A-9B90-94191499B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9E9993-05F2-2C67-0D4E-8FC2C4798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9831D8-5410-CDE5-BBAB-50ADDF52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0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723DA-FBAF-6FF3-EF30-4A47B805C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1CADE-A56F-793C-07C4-E5C0D302B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2A10-2CF2-EC0B-EE5B-B6FD908FD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F5E70C-32DB-52D4-A5E8-991AEAC1C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0E899-CB52-321A-0861-7D9F4AA497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03B664-0DCF-9EBE-6243-4F15828F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737786-923F-B092-6DFD-7868535DA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611E38-7E09-0497-90C4-F070B0A9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472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77BA-CFB2-0F04-825F-91C97E004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B1FC39-F2B5-2E53-AB98-C88B33484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E542D-F700-AFF1-4DDA-408F69008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811EC-A039-8146-1932-A7D3177C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7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1B781-ED5C-37E5-1F02-911FA5342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CFBC85-624F-5118-C8FD-27641DF3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F4C4E4-1DAF-493E-A3D2-C4C69B107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19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8A371-FA5B-BC83-017F-1D3C024C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D70E7-831B-CEA1-5624-FE5BEC309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BC05F-0B6D-8542-0F6B-EDC3EBB21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6C9D-37A7-5F3D-43F4-1B6C64737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64A1A4-27CA-F652-C6E5-A87ACFDF9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E88A3-6E64-61B7-FEA4-CD90524C6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82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8FAD-0333-6F68-E17B-86C7AA06B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F527F4-A8E4-17E8-82E9-448B62822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DEC91A-72FA-137E-22AC-3DD5534B1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F73D39-E037-4A07-A5AC-7B94BF10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1E1F5-210D-DCCE-41AD-59404262A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F0A20C-D80C-D526-A46A-BDE372CAA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7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1F166-F7FE-E545-E18D-B54CE508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9C7E3-92DB-9EB4-E61D-9EEDC44A07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14DF4-7A15-C738-7903-F461F706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8676F-E329-BF4D-6834-7AFC6F735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F24FB-F6F6-FEE3-2BA4-AEF3BBC86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576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086996-4E35-02FD-7C9E-8A9C8E2C6D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F976F-7003-5DE4-A031-8884284F20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EA077-3687-6578-F41E-7BDF44DA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75D0E-89AF-48D8-CD96-F78B8E0F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69904-6CA9-5D7C-2D97-1EC7FE148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446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958D40-CB71-BF54-D3B1-D34192E46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0A6FF-C772-BB11-E6DA-B19A6C2A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ED9ED3-696A-FF8D-39AA-492D25D45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B458C-83C3-D1A9-0170-F7FECBE4D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45E98-DC93-EC64-7311-3C65B0DCC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12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3000">
                <a:solidFill>
                  <a:schemeClr val="tx2"/>
                </a:solidFill>
              </a:rPr>
              <a:t>Factories Operational Insights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 i="1">
                <a:solidFill>
                  <a:schemeClr val="tx2"/>
                </a:solidFill>
              </a:rPr>
              <a:t>Downtime Analysis Overview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085307DC-9F40-558F-19F1-27102978F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802955"/>
            <a:ext cx="3733482" cy="1454051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Dashboard Purpose</a:t>
            </a:r>
          </a:p>
        </p:txBody>
      </p:sp>
      <p:pic>
        <p:nvPicPr>
          <p:cNvPr id="7" name="Graphic 6" descr="Factory">
            <a:extLst>
              <a:ext uri="{FF2B5EF4-FFF2-40B4-BE49-F238E27FC236}">
                <a16:creationId xmlns:a16="http://schemas.microsoft.com/office/drawing/2014/main" id="{3C9C14FF-4DD7-3418-EC9C-52D3B5D01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9534" y="2230670"/>
            <a:ext cx="2746373" cy="274637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7930" y="2421682"/>
            <a:ext cx="3733184" cy="3639289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This dashboard provides insights into factory downtime and device health. It helps identify which factories and machines experience the highest downtime, so management can focus on maintenance and efficiency improvements.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976" y="52996"/>
            <a:ext cx="4446455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100">
                <a:solidFill>
                  <a:schemeClr val="tx2"/>
                </a:solidFill>
              </a:rPr>
              <a:t>Downtime per Factory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Daikibo Factory Seiko has the highest downtime (480 unhealthy hours), followed by Daikibo Shenzhen (420). Berlin shows minimal issues, indicating better operational stability.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384E20B-8FD1-0673-4834-3A16F2CD7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857" y="3600545"/>
            <a:ext cx="3845172" cy="150498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682" y="1261423"/>
            <a:ext cx="737235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100">
                <a:solidFill>
                  <a:schemeClr val="tx2"/>
                </a:solidFill>
              </a:rPr>
              <a:t>Downtime per Device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2827419"/>
            <a:ext cx="3845172" cy="3227626"/>
          </a:xfrm>
        </p:spPr>
        <p:txBody>
          <a:bodyPr anchor="ctr">
            <a:normAutofit/>
          </a:bodyPr>
          <a:lstStyle/>
          <a:p>
            <a:r>
              <a:rPr lang="en-US" sz="1600">
                <a:solidFill>
                  <a:schemeClr val="tx2"/>
                </a:solidFill>
              </a:rPr>
              <a:t>Laser Welders and Laser Cutters contribute most to downtime. These machines should be prioritized for inspection, servicing, or replacement.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7481DCC-162E-D465-9C04-5C793C513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033" y="3819300"/>
            <a:ext cx="3716020" cy="1254156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FE5BEBD3-C4BE-5F92-DCCF-69425AEB02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4356720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192</Words>
  <Application>Microsoft Office PowerPoint</Application>
  <PresentationFormat>On-screen Show (4:3)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Factories Operational Insights Dashboard</vt:lpstr>
      <vt:lpstr>Dashboard Purpose</vt:lpstr>
      <vt:lpstr>Downtime per Factory</vt:lpstr>
      <vt:lpstr>Downtime per Device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Akber Khan</cp:lastModifiedBy>
  <cp:revision>3</cp:revision>
  <dcterms:created xsi:type="dcterms:W3CDTF">2013-01-27T09:14:16Z</dcterms:created>
  <dcterms:modified xsi:type="dcterms:W3CDTF">2026-01-11T01:25:05Z</dcterms:modified>
  <cp:category/>
</cp:coreProperties>
</file>